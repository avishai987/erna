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4" r:id="rId4"/>
    <p:sldId id="258" r:id="rId5"/>
    <p:sldId id="259" r:id="rId6"/>
    <p:sldId id="260" r:id="rId7"/>
    <p:sldId id="273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5" r:id="rId17"/>
    <p:sldId id="268" r:id="rId18"/>
    <p:sldId id="269" r:id="rId19"/>
    <p:sldId id="271" r:id="rId20"/>
    <p:sldId id="272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Y/HmAVDk32CejQjmmxKgE54bc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82557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8140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2002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588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27cc44f9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27cc44f9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2393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dirty="0" err="1"/>
              <a:t>חיזוי</a:t>
            </a:r>
            <a:r>
              <a:rPr lang="en-US" dirty="0"/>
              <a:t> </a:t>
            </a:r>
            <a:r>
              <a:rPr lang="en-US" dirty="0" err="1"/>
              <a:t>נגישות</a:t>
            </a:r>
            <a:r>
              <a:rPr lang="en-US" dirty="0"/>
              <a:t> </a:t>
            </a:r>
            <a:r>
              <a:rPr lang="en-US" dirty="0" err="1"/>
              <a:t>כרומטין</a:t>
            </a:r>
            <a:r>
              <a:rPr lang="en-US" dirty="0"/>
              <a:t> (</a:t>
            </a:r>
            <a:r>
              <a:rPr lang="en-US" dirty="0" err="1"/>
              <a:t>scATAC-seq</a:t>
            </a:r>
            <a:r>
              <a:rPr lang="en-US" dirty="0"/>
              <a:t>)</a:t>
            </a:r>
            <a:endParaRPr dirty="0"/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dirty="0" err="1"/>
              <a:t>על</a:t>
            </a:r>
            <a:r>
              <a:rPr lang="en-US" dirty="0"/>
              <a:t> </a:t>
            </a:r>
            <a:r>
              <a:rPr lang="en-US" dirty="0" err="1"/>
              <a:t>בסיס</a:t>
            </a:r>
            <a:r>
              <a:rPr lang="en-US" dirty="0"/>
              <a:t> </a:t>
            </a:r>
            <a:r>
              <a:rPr lang="en-US" dirty="0" err="1"/>
              <a:t>ביטוי</a:t>
            </a:r>
            <a:r>
              <a:rPr lang="en-US" dirty="0"/>
              <a:t> </a:t>
            </a:r>
            <a:r>
              <a:rPr lang="en-US" dirty="0" err="1"/>
              <a:t>גנים</a:t>
            </a:r>
            <a:r>
              <a:rPr lang="en-US" dirty="0"/>
              <a:t> (</a:t>
            </a:r>
            <a:r>
              <a:rPr lang="en-US" dirty="0" err="1"/>
              <a:t>scRNA-seq</a:t>
            </a:r>
            <a:r>
              <a:rPr lang="en-US" dirty="0"/>
              <a:t>) </a:t>
            </a:r>
            <a:r>
              <a:rPr lang="en-US" dirty="0" err="1"/>
              <a:t>באמצעות</a:t>
            </a:r>
            <a:r>
              <a:rPr lang="en-US" dirty="0"/>
              <a:t> </a:t>
            </a:r>
            <a:r>
              <a:rPr lang="en-US" dirty="0" err="1"/>
              <a:t>למידה</a:t>
            </a:r>
            <a:r>
              <a:rPr lang="en-US" dirty="0"/>
              <a:t> </a:t>
            </a:r>
            <a:r>
              <a:rPr lang="en-US" dirty="0" err="1"/>
              <a:t>עמוקה</a:t>
            </a:r>
            <a:endParaRPr dirty="0"/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dirty="0" err="1">
                <a:solidFill>
                  <a:srgbClr val="888888"/>
                </a:solidFill>
              </a:rPr>
              <a:t>Avishai</a:t>
            </a:r>
            <a:r>
              <a:rPr lang="en-US" dirty="0">
                <a:solidFill>
                  <a:srgbClr val="888888"/>
                </a:solidFill>
              </a:rPr>
              <a:t> </a:t>
            </a:r>
            <a:r>
              <a:rPr lang="en-US" dirty="0" err="1">
                <a:solidFill>
                  <a:srgbClr val="888888"/>
                </a:solidFill>
              </a:rPr>
              <a:t>Wizel</a:t>
            </a:r>
            <a:endParaRPr dirty="0"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dirty="0">
                <a:solidFill>
                  <a:srgbClr val="888888"/>
                </a:solidFill>
              </a:rPr>
              <a:t>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e-IL" dirty="0"/>
              <a:t>מבוא</a:t>
            </a:r>
            <a:endParaRPr dirty="0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r" rtl="1"/>
            <a:r>
              <a:rPr lang="en-US" sz="2400" b="1" dirty="0"/>
              <a:t>🎯 </a:t>
            </a:r>
            <a:r>
              <a:rPr lang="he-IL" sz="2400" b="1" dirty="0"/>
              <a:t> הגדרת הבעיה</a:t>
            </a:r>
            <a:endParaRPr lang="he-IL" sz="2400" dirty="0"/>
          </a:p>
          <a:p>
            <a:pPr algn="r" rtl="1"/>
            <a:r>
              <a:rPr lang="he-IL" sz="2400" dirty="0"/>
              <a:t>בתאים של אורגניזמים רב-תאיים, ביטוי של גנים (כלומר, הפיכת מידע גנטי לחלבון) מושפע גם מגורמים </a:t>
            </a:r>
            <a:r>
              <a:rPr lang="he-IL" sz="2400" dirty="0" err="1"/>
              <a:t>אפיגנטיים</a:t>
            </a:r>
            <a:r>
              <a:rPr lang="he-IL" sz="2400" dirty="0"/>
              <a:t> — כמו פתיחה או סגירה של אזורים ב</a:t>
            </a:r>
            <a:r>
              <a:rPr lang="en-US" sz="2400" dirty="0"/>
              <a:t>-DNA, </a:t>
            </a:r>
            <a:r>
              <a:rPr lang="he-IL" sz="2400" dirty="0"/>
              <a:t>תהליך הקרוי </a:t>
            </a:r>
            <a:r>
              <a:rPr lang="he-IL" sz="2400" b="1" dirty="0"/>
              <a:t>נגישות </a:t>
            </a:r>
            <a:r>
              <a:rPr lang="he-IL" sz="2400" b="1" dirty="0" err="1"/>
              <a:t>כרומטינית</a:t>
            </a:r>
            <a:r>
              <a:rPr lang="en-US" sz="2400" dirty="0"/>
              <a:t>.</a:t>
            </a:r>
          </a:p>
          <a:p>
            <a:pPr lvl="0" algn="r" rtl="1"/>
            <a:r>
              <a:rPr lang="en-US" sz="2400" b="1" dirty="0" err="1"/>
              <a:t>scRNA-seq</a:t>
            </a:r>
            <a:r>
              <a:rPr lang="en-US" sz="2400" dirty="0"/>
              <a:t> </a:t>
            </a:r>
            <a:r>
              <a:rPr lang="he-IL" sz="2400" dirty="0"/>
              <a:t> היא שיטה למדידת ביטוי גנים בכל תא בנפרד</a:t>
            </a:r>
            <a:r>
              <a:rPr lang="en-US" sz="2400" dirty="0"/>
              <a:t>.</a:t>
            </a:r>
          </a:p>
          <a:p>
            <a:pPr lvl="0" algn="r" rtl="1"/>
            <a:r>
              <a:rPr lang="en-US" sz="2400" b="1" dirty="0" err="1"/>
              <a:t>scATAC-seq</a:t>
            </a:r>
            <a:r>
              <a:rPr lang="en-US" sz="2400" dirty="0"/>
              <a:t> </a:t>
            </a:r>
            <a:r>
              <a:rPr lang="he-IL" sz="2400" dirty="0"/>
              <a:t> מודדת נגישות של אזורים רגולטוריים בגנום בכל תא בנפרד</a:t>
            </a:r>
            <a:r>
              <a:rPr lang="en-US" sz="2400" dirty="0"/>
              <a:t>.</a:t>
            </a:r>
          </a:p>
        </p:txBody>
      </p:sp>
      <p:pic>
        <p:nvPicPr>
          <p:cNvPr id="6146" name="Picture 2" descr="Generation of count matrix | Introduction to Single-cell RNA-seq - ARCHIV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75" y="4246946"/>
            <a:ext cx="3163774" cy="220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eneration of count matrix | Introduction to Single-cell RNA-seq - ARCHIV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966" y="4153463"/>
            <a:ext cx="3163774" cy="220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868946A-A01E-BE5F-DD24-3EFE617550EA}"/>
              </a:ext>
            </a:extLst>
          </p:cNvPr>
          <p:cNvSpPr txBox="1"/>
          <p:nvPr/>
        </p:nvSpPr>
        <p:spPr>
          <a:xfrm>
            <a:off x="3593542" y="4425696"/>
            <a:ext cx="135336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Chr1:13556-13587</a:t>
            </a:r>
            <a:endParaRPr lang="LID4096" sz="1100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4920781-B2C4-F324-2195-9E1A7520D422}"/>
              </a:ext>
            </a:extLst>
          </p:cNvPr>
          <p:cNvSpPr txBox="1"/>
          <p:nvPr/>
        </p:nvSpPr>
        <p:spPr>
          <a:xfrm>
            <a:off x="3593542" y="4721229"/>
            <a:ext cx="135336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Chr1:13897-13963</a:t>
            </a:r>
            <a:endParaRPr lang="LID4096" sz="1100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96124DE-A414-C717-7944-1848059425A3}"/>
              </a:ext>
            </a:extLst>
          </p:cNvPr>
          <p:cNvSpPr txBox="1"/>
          <p:nvPr/>
        </p:nvSpPr>
        <p:spPr>
          <a:xfrm>
            <a:off x="3593542" y="5034596"/>
            <a:ext cx="135336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Chr1:14123-14259</a:t>
            </a:r>
            <a:endParaRPr lang="LID4096" sz="1100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28555D47-F8FB-A3C9-4DEB-E5F0D03C521E}"/>
              </a:ext>
            </a:extLst>
          </p:cNvPr>
          <p:cNvSpPr txBox="1"/>
          <p:nvPr/>
        </p:nvSpPr>
        <p:spPr>
          <a:xfrm>
            <a:off x="4215359" y="6107582"/>
            <a:ext cx="71328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Loci I</a:t>
            </a:r>
            <a:endParaRPr lang="LID4096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מטרה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המטרה היא </a:t>
            </a:r>
            <a:r>
              <a:rPr lang="he-IL" b="1" dirty="0"/>
              <a:t>לחזות את דפוסי הנגישות </a:t>
            </a:r>
            <a:r>
              <a:rPr lang="he-IL" b="1" dirty="0" err="1"/>
              <a:t>הכרומטינית</a:t>
            </a:r>
            <a:r>
              <a:rPr lang="en-US" b="1" dirty="0"/>
              <a:t> (</a:t>
            </a:r>
            <a:r>
              <a:rPr lang="en-US" b="1" dirty="0" err="1"/>
              <a:t>scATAC-seq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he-IL" dirty="0"/>
              <a:t>בהתבסס על </a:t>
            </a:r>
            <a:r>
              <a:rPr lang="he-IL" b="1" dirty="0"/>
              <a:t>פרופיל ביטוי הגנים</a:t>
            </a:r>
            <a:r>
              <a:rPr lang="en-US" b="1" dirty="0"/>
              <a:t> (</a:t>
            </a:r>
            <a:r>
              <a:rPr lang="en-US" b="1" dirty="0" err="1"/>
              <a:t>scRNA-seq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he-IL" dirty="0"/>
              <a:t>של כל תא</a:t>
            </a:r>
            <a:r>
              <a:rPr lang="en-US" dirty="0"/>
              <a:t>.</a:t>
            </a:r>
          </a:p>
          <a:p>
            <a:pPr algn="r" rtl="1"/>
            <a:r>
              <a:rPr lang="he-IL" dirty="0"/>
              <a:t>יתרון: היכולת לנבא את </a:t>
            </a:r>
            <a:r>
              <a:rPr lang="en-US" dirty="0" err="1"/>
              <a:t>scATAC</a:t>
            </a:r>
            <a:r>
              <a:rPr lang="he-IL" dirty="0"/>
              <a:t> על בסיס </a:t>
            </a:r>
            <a:r>
              <a:rPr lang="en-US" dirty="0" err="1"/>
              <a:t>scRNA</a:t>
            </a:r>
            <a:r>
              <a:rPr lang="he-IL" dirty="0"/>
              <a:t> יכולה לסייע בהבנת מנגנונים רגולטוריים גם כשאין זמינות לדאטה של </a:t>
            </a:r>
            <a:r>
              <a:rPr lang="en-US" dirty="0"/>
              <a:t>ATAC</a:t>
            </a:r>
            <a:r>
              <a:rPr lang="he-IL" dirty="0"/>
              <a:t>- חיסכון בזמן, כסף, והשגת מידע נוסף על דאטה קיים.</a:t>
            </a:r>
            <a:endParaRPr lang="en-US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29645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1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e-IL" sz="2500" b="1" dirty="0">
                <a:latin typeface="Arial"/>
                <a:ea typeface="Arial"/>
                <a:cs typeface="Arial"/>
                <a:sym typeface="Arial"/>
              </a:rPr>
              <a:t>למה </a:t>
            </a:r>
            <a:r>
              <a:rPr lang="en-US" sz="2500" b="1" dirty="0"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lang="he-IL" sz="2500" b="1" dirty="0">
                <a:latin typeface="Arial"/>
                <a:ea typeface="Arial"/>
                <a:cs typeface="Arial"/>
                <a:sym typeface="Arial"/>
              </a:rPr>
              <a:t>?</a:t>
            </a:r>
            <a:endParaRPr sz="56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r" rtl="1"/>
            <a:r>
              <a:rPr lang="he-IL" sz="2400" dirty="0"/>
              <a:t>בחרנו בגישה של </a:t>
            </a:r>
            <a:r>
              <a:rPr lang="he-IL" sz="2400" b="1" dirty="0"/>
              <a:t>למידה עמוקה</a:t>
            </a:r>
            <a:r>
              <a:rPr lang="en-US" sz="2400" b="1" dirty="0"/>
              <a:t> (Deep Learning)</a:t>
            </a:r>
            <a:r>
              <a:rPr lang="en-US" sz="2400" dirty="0"/>
              <a:t> </a:t>
            </a:r>
            <a:r>
              <a:rPr lang="he-IL" sz="2400" dirty="0"/>
              <a:t>מאחר שהקשר בין ביטוי גנים לנגישות כרומטין הוא מורכב, לא לינארי, ועלול לכלול אינטראקציות מרובות בין גנים.</a:t>
            </a:r>
          </a:p>
          <a:p>
            <a:pPr algn="r" rtl="1"/>
            <a:r>
              <a:rPr lang="he-IL" sz="2400" dirty="0"/>
              <a:t> מודלים פשוטים יותר כמו רגרסיה או</a:t>
            </a:r>
            <a:r>
              <a:rPr lang="en-US" sz="2400" dirty="0"/>
              <a:t> Random Forest </a:t>
            </a:r>
            <a:r>
              <a:rPr lang="he-IL" sz="2400" dirty="0"/>
              <a:t> לא מצליחים ללמוד יחסים כאלה באופן מיטבי</a:t>
            </a:r>
            <a:r>
              <a:rPr lang="en-US" sz="2400" dirty="0"/>
              <a:t>.</a:t>
            </a:r>
          </a:p>
          <a:p>
            <a:pPr algn="r" rtl="1"/>
            <a:r>
              <a:rPr lang="he-IL" sz="2400" dirty="0"/>
              <a:t>למידה עמוקה מאפשרת לרשת ללמוד ייצוגים מופשטים של </a:t>
            </a:r>
            <a:r>
              <a:rPr lang="he-IL" sz="2400" dirty="0" err="1"/>
              <a:t>הדאטה</a:t>
            </a:r>
            <a:r>
              <a:rPr lang="he-IL" sz="2400" dirty="0"/>
              <a:t> בצורה הדרגתית, גם כשאין ידע מוקדם מדויק על הצורה של הקשר</a:t>
            </a:r>
            <a:r>
              <a:rPr lang="en-US" sz="2400" dirty="0"/>
              <a:t>.</a:t>
            </a:r>
          </a:p>
          <a:p>
            <a:pPr marL="342900" lvl="0" indent="0" algn="r" rtl="1">
              <a:spcBef>
                <a:spcPts val="640"/>
              </a:spcBef>
              <a:spcAft>
                <a:spcPts val="0"/>
              </a:spcAft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27cc44f94_0_3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rtl="1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he-IL" sz="3600" b="1" dirty="0"/>
              <a:t>למה דווקא רשת </a:t>
            </a:r>
            <a:r>
              <a:rPr lang="en-US" sz="3600" b="1" dirty="0"/>
              <a:t> Fully Connected (Dense Neural Network)</a:t>
            </a:r>
            <a:r>
              <a:rPr lang="he-IL" sz="3600" b="1" dirty="0"/>
              <a:t>?</a:t>
            </a:r>
            <a:endParaRPr sz="32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727cc44f94_0_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r" rtl="1">
              <a:buFont typeface="Wingdings" panose="05000000000000000000" pitchFamily="2" charset="2"/>
              <a:buChar char="Ø"/>
            </a:pPr>
            <a:r>
              <a:rPr lang="he-IL" sz="2400" dirty="0"/>
              <a:t>שקלנו אפשרויות נוספות כמו</a:t>
            </a:r>
            <a:br>
              <a:rPr lang="en-US" sz="2400" dirty="0"/>
            </a:br>
            <a:r>
              <a:rPr lang="he-IL" sz="2400" dirty="0"/>
              <a:t> </a:t>
            </a:r>
            <a:r>
              <a:rPr lang="en-US" sz="2400" dirty="0"/>
              <a:t> CNN (Convolutional  Neural Network)</a:t>
            </a:r>
            <a:r>
              <a:rPr lang="he-IL" sz="2400" dirty="0"/>
              <a:t>, אך אלו מותאמות יותר לדאטה שמובנה במרחב או בזמן (כמו תמונות או רצפים)</a:t>
            </a:r>
            <a:r>
              <a:rPr lang="en-US" sz="2400" dirty="0"/>
              <a:t>.</a:t>
            </a:r>
          </a:p>
          <a:p>
            <a:pPr algn="r" rtl="1">
              <a:buFont typeface="Wingdings" panose="05000000000000000000" pitchFamily="2" charset="2"/>
              <a:buChar char="Ø"/>
            </a:pPr>
            <a:r>
              <a:rPr lang="he-IL" sz="2400" dirty="0"/>
              <a:t>במקרה שלנו, כל תא מיוצג </a:t>
            </a:r>
            <a:r>
              <a:rPr lang="he-IL" sz="2400" dirty="0" err="1"/>
              <a:t>כוקטור</a:t>
            </a:r>
            <a:r>
              <a:rPr lang="he-IL" sz="2400" dirty="0"/>
              <a:t> </a:t>
            </a:r>
            <a:r>
              <a:rPr lang="he-IL" sz="2400" dirty="0" err="1"/>
              <a:t>חד־ממדי</a:t>
            </a:r>
            <a:r>
              <a:rPr lang="he-IL" sz="2400" dirty="0"/>
              <a:t> של ביטוי גנים</a:t>
            </a:r>
            <a:r>
              <a:rPr lang="en-US" sz="2400" dirty="0"/>
              <a:t>, </a:t>
            </a:r>
            <a:r>
              <a:rPr lang="he-IL" sz="2400" b="1" dirty="0"/>
              <a:t>ללא מבנה מרחבי</a:t>
            </a:r>
            <a:r>
              <a:rPr lang="en-US" sz="2400" dirty="0"/>
              <a:t>. </a:t>
            </a:r>
            <a:r>
              <a:rPr lang="he-IL" sz="2400" dirty="0"/>
              <a:t>לכן</a:t>
            </a:r>
            <a:r>
              <a:rPr lang="en-US" sz="2400" dirty="0"/>
              <a:t>, CNN </a:t>
            </a:r>
            <a:r>
              <a:rPr lang="he-IL" sz="2400" dirty="0"/>
              <a:t>לא מתאימה למבנה </a:t>
            </a:r>
            <a:r>
              <a:rPr lang="he-IL" sz="2400" dirty="0" err="1"/>
              <a:t>הדאטה</a:t>
            </a:r>
            <a:r>
              <a:rPr lang="he-IL" sz="2400" dirty="0"/>
              <a:t>, ו־</a:t>
            </a:r>
            <a:r>
              <a:rPr lang="en-US" sz="2400" dirty="0"/>
              <a:t> </a:t>
            </a:r>
            <a:r>
              <a:rPr lang="en-US" sz="2400" b="1" dirty="0"/>
              <a:t>Fully Connected Neural network</a:t>
            </a:r>
            <a:r>
              <a:rPr lang="he-IL" sz="2400" b="1" dirty="0"/>
              <a:t> </a:t>
            </a:r>
            <a:r>
              <a:rPr lang="he-IL" sz="2400" dirty="0"/>
              <a:t>היא הבחירה הטבעית והפשוטה יותר</a:t>
            </a:r>
            <a:r>
              <a:rPr lang="en-US" sz="2400" dirty="0"/>
              <a:t>.</a:t>
            </a:r>
          </a:p>
        </p:txBody>
      </p:sp>
      <p:pic>
        <p:nvPicPr>
          <p:cNvPr id="8196" name="Picture 4" descr="What Is a Neural Network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764" y="3923071"/>
            <a:ext cx="3267847" cy="2797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⚠️ </a:t>
            </a:r>
            <a:r>
              <a:rPr lang="he-IL" b="1" dirty="0"/>
              <a:t>אתגרים עיקריים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 algn="r" rtl="1"/>
            <a:r>
              <a:rPr lang="en-US" sz="2800" dirty="0"/>
              <a:t>·  </a:t>
            </a:r>
            <a:r>
              <a:rPr lang="he-IL" sz="2800" b="1" dirty="0"/>
              <a:t>דילול </a:t>
            </a:r>
            <a:r>
              <a:rPr lang="en-US" sz="2800" b="1" dirty="0"/>
              <a:t> (Sparsity)</a:t>
            </a:r>
            <a:r>
              <a:rPr lang="he-IL" sz="2800" dirty="0"/>
              <a:t>: מטריצת היעד</a:t>
            </a:r>
            <a:r>
              <a:rPr lang="en-US" sz="2800" dirty="0"/>
              <a:t> (</a:t>
            </a:r>
            <a:r>
              <a:rPr lang="en-US" sz="2800" dirty="0" err="1"/>
              <a:t>scATAC-seq</a:t>
            </a:r>
            <a:r>
              <a:rPr lang="en-US" sz="2800" dirty="0"/>
              <a:t>) </a:t>
            </a:r>
            <a:r>
              <a:rPr lang="he-IL" sz="2800" dirty="0"/>
              <a:t>מאוד דלילה – כמעט כל הערכים הם 0 (אין נגישות). זה מקשה על המודל ללמוד הבדל משמעותי</a:t>
            </a:r>
            <a:r>
              <a:rPr lang="en-US" sz="2800" dirty="0"/>
              <a:t>.</a:t>
            </a:r>
          </a:p>
          <a:p>
            <a:pPr lvl="0" algn="r" rtl="1"/>
            <a:r>
              <a:rPr lang="en-US" sz="2800" dirty="0"/>
              <a:t>·  </a:t>
            </a:r>
            <a:r>
              <a:rPr lang="he-IL" sz="2800" b="1" dirty="0"/>
              <a:t>חוסר איזון</a:t>
            </a:r>
            <a:r>
              <a:rPr lang="en-US" sz="2800" b="1" dirty="0"/>
              <a:t> (Class imbalance)</a:t>
            </a:r>
            <a:r>
              <a:rPr lang="en-US" sz="2800" dirty="0"/>
              <a:t>: </a:t>
            </a:r>
            <a:r>
              <a:rPr lang="he-IL" sz="2800" dirty="0"/>
              <a:t>רק אחוז קטן מהלוקוסים פתוחים (1) לעומת סגורים</a:t>
            </a:r>
            <a:r>
              <a:rPr lang="en-US" sz="2800" dirty="0"/>
              <a:t> (0).</a:t>
            </a:r>
          </a:p>
          <a:p>
            <a:pPr lvl="0" algn="r" rtl="1"/>
            <a:r>
              <a:rPr lang="en-US" sz="2800" dirty="0"/>
              <a:t>·  </a:t>
            </a:r>
            <a:r>
              <a:rPr lang="he-IL" sz="2800" b="1" dirty="0"/>
              <a:t>התאמה לא מושלמת</a:t>
            </a:r>
            <a:r>
              <a:rPr lang="en-US" sz="2800" dirty="0"/>
              <a:t>: </a:t>
            </a:r>
            <a:r>
              <a:rPr lang="he-IL" sz="2800" dirty="0"/>
              <a:t>לא תמיד יש התאמה ישירה בין ביטוי גנים לנגישות של אתרים רגולטוריים מסוימים</a:t>
            </a:r>
            <a:r>
              <a:rPr lang="en-US" sz="2800" dirty="0"/>
              <a:t>.</a:t>
            </a:r>
            <a:endParaRPr lang="he-IL" sz="2800" dirty="0"/>
          </a:p>
          <a:p>
            <a:pPr algn="r" rtl="1"/>
            <a:r>
              <a:rPr lang="he-IL" sz="2800" dirty="0"/>
              <a:t>יש פער מהותי בין שני סוגי </a:t>
            </a:r>
            <a:r>
              <a:rPr lang="he-IL" sz="2800" dirty="0" err="1"/>
              <a:t>הדאטה</a:t>
            </a:r>
            <a:r>
              <a:rPr lang="he-IL" sz="2800" dirty="0"/>
              <a:t>, כך שמדובר בבעיה לא לינארית שדורשת למידה עמוקה</a:t>
            </a:r>
            <a:r>
              <a:rPr lang="en-US" sz="2800" dirty="0"/>
              <a:t>.</a:t>
            </a:r>
          </a:p>
          <a:p>
            <a:pPr lvl="0" algn="r" rt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47491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10K PBMC (Peripheral Blood Mononuclear Cell ) cells from a healthy donor </a:t>
            </a:r>
          </a:p>
          <a:p>
            <a:pPr algn="l"/>
            <a:r>
              <a:rPr lang="en-US" dirty="0"/>
              <a:t>Single Cell </a:t>
            </a:r>
            <a:r>
              <a:rPr lang="en-US" dirty="0" err="1"/>
              <a:t>Multiome</a:t>
            </a:r>
            <a:r>
              <a:rPr lang="en-US" dirty="0"/>
              <a:t> ATAC + Gene Exp. Dataset sequenced by 10X.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32912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סינון ונורמליזציה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0" algn="r" rtl="1"/>
            <a:r>
              <a:rPr lang="he-IL" sz="2400" dirty="0"/>
              <a:t>היו במקור 11,852 תאים. לאחר סינון איכות</a:t>
            </a:r>
            <a:r>
              <a:rPr lang="en-US" sz="2400" dirty="0"/>
              <a:t> (QC) </a:t>
            </a:r>
            <a:r>
              <a:rPr lang="he-IL" sz="2400" dirty="0"/>
              <a:t>נשארו 11,680</a:t>
            </a:r>
            <a:r>
              <a:rPr lang="en-US" sz="2400" dirty="0"/>
              <a:t>.</a:t>
            </a:r>
          </a:p>
          <a:p>
            <a:pPr lvl="0" algn="r" rtl="1"/>
            <a:r>
              <a:rPr lang="he-IL" sz="2400" dirty="0"/>
              <a:t>מתוכם השתמשתי ב־10,000 הגנים עם השונות הגבוהה ביותר</a:t>
            </a:r>
            <a:r>
              <a:rPr lang="en-US" sz="2400" dirty="0"/>
              <a:t>.</a:t>
            </a:r>
          </a:p>
          <a:p>
            <a:pPr lvl="0" algn="r" rtl="1"/>
            <a:r>
              <a:rPr lang="he-IL" sz="2400" dirty="0"/>
              <a:t>מטרת החיזוי הייתה 500 לוקוסים מה־</a:t>
            </a:r>
            <a:r>
              <a:rPr lang="en-US" sz="2400" dirty="0" err="1"/>
              <a:t>scATAC</a:t>
            </a:r>
            <a:r>
              <a:rPr lang="en-US" sz="2400" dirty="0"/>
              <a:t> </a:t>
            </a:r>
            <a:r>
              <a:rPr lang="he-IL" sz="2400" dirty="0"/>
              <a:t> שנבחרו גם הם לפי שונות גבוהה</a:t>
            </a:r>
            <a:r>
              <a:rPr lang="en-US" sz="2400" dirty="0"/>
              <a:t>.</a:t>
            </a:r>
          </a:p>
          <a:p>
            <a:pPr lvl="0" algn="r" rtl="1"/>
            <a:r>
              <a:rPr lang="he-IL" sz="2400" dirty="0" err="1"/>
              <a:t>הדאטה</a:t>
            </a:r>
            <a:r>
              <a:rPr lang="he-IL" sz="2400" dirty="0"/>
              <a:t> של</a:t>
            </a:r>
            <a:r>
              <a:rPr lang="en-US" sz="2400" dirty="0"/>
              <a:t> </a:t>
            </a:r>
            <a:r>
              <a:rPr lang="en-US" sz="2400" dirty="0" err="1"/>
              <a:t>scRNA-seq</a:t>
            </a:r>
            <a:r>
              <a:rPr lang="en-US" sz="2400" dirty="0"/>
              <a:t> </a:t>
            </a:r>
            <a:r>
              <a:rPr lang="he-IL" sz="2400" dirty="0"/>
              <a:t>עבר </a:t>
            </a:r>
            <a:r>
              <a:rPr lang="en-US" sz="2400" b="1" dirty="0"/>
              <a:t>Z score </a:t>
            </a:r>
            <a:r>
              <a:rPr lang="en-US" sz="2400" b="1" dirty="0" err="1"/>
              <a:t>scailling</a:t>
            </a:r>
            <a:r>
              <a:rPr lang="en-US" sz="2400" b="1" dirty="0"/>
              <a:t> </a:t>
            </a:r>
            <a:r>
              <a:rPr lang="he-IL" sz="2400" b="1" dirty="0"/>
              <a:t>- </a:t>
            </a:r>
            <a:r>
              <a:rPr lang="he-IL" sz="2400" dirty="0"/>
              <a:t>הבאת כל גן לממוצע 0 וסטיית תקן 1.</a:t>
            </a:r>
            <a:endParaRPr lang="en-US" sz="2400" dirty="0"/>
          </a:p>
          <a:p>
            <a:pPr lvl="0" algn="r" rtl="1"/>
            <a:r>
              <a:rPr lang="he-IL" sz="2400" dirty="0" err="1"/>
              <a:t>הדאטה</a:t>
            </a:r>
            <a:r>
              <a:rPr lang="he-IL" sz="2400" dirty="0"/>
              <a:t> של</a:t>
            </a:r>
            <a:r>
              <a:rPr lang="en-US" sz="2400" dirty="0"/>
              <a:t> </a:t>
            </a:r>
            <a:r>
              <a:rPr lang="en-US" sz="2400" dirty="0" err="1"/>
              <a:t>scATAC-seq</a:t>
            </a:r>
            <a:r>
              <a:rPr lang="he-IL" sz="2400" dirty="0"/>
              <a:t> הועבר לפורמט בינארי (0/1), ולכן לא נדרשה נורמליזציה, אך </a:t>
            </a:r>
            <a:r>
              <a:rPr lang="he-IL" sz="2400" b="1" dirty="0"/>
              <a:t>בוצע</a:t>
            </a:r>
            <a:r>
              <a:rPr lang="en-US" sz="2400" b="1" dirty="0"/>
              <a:t> </a:t>
            </a:r>
            <a:r>
              <a:rPr lang="en-US" sz="2400" b="1" dirty="0" err="1"/>
              <a:t>MinMaxScaler</a:t>
            </a:r>
            <a:r>
              <a:rPr lang="en-US" sz="2400" dirty="0"/>
              <a:t> </a:t>
            </a:r>
            <a:r>
              <a:rPr lang="he-IL" sz="2400" dirty="0"/>
              <a:t>לצרכים טכניים (קידוד לערכים בין 0 ל־1)</a:t>
            </a:r>
            <a:r>
              <a:rPr lang="en-US" sz="2400" dirty="0"/>
              <a:t>.</a:t>
            </a:r>
          </a:p>
          <a:p>
            <a:pPr algn="r" rtl="1"/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221016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נתונים נוספים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r" rtl="1"/>
            <a:r>
              <a:rPr lang="he-IL" dirty="0"/>
              <a:t>שמרתי 20% מהתאים עבור קבוצת ה </a:t>
            </a:r>
            <a:r>
              <a:rPr lang="en-US" dirty="0"/>
              <a:t>test</a:t>
            </a:r>
            <a:r>
              <a:rPr lang="he-IL" dirty="0"/>
              <a:t>, ובמהלך האימון השתמשתי ב־10% נוספים עבור</a:t>
            </a:r>
            <a:r>
              <a:rPr lang="en-US" dirty="0"/>
              <a:t> validation </a:t>
            </a:r>
            <a:r>
              <a:rPr lang="he-IL" dirty="0"/>
              <a:t>בכל </a:t>
            </a:r>
            <a:r>
              <a:rPr lang="en-US" dirty="0"/>
              <a:t>epoch</a:t>
            </a:r>
            <a:r>
              <a:rPr lang="he-IL" dirty="0"/>
              <a:t>.</a:t>
            </a:r>
            <a:endParaRPr lang="en-US" dirty="0"/>
          </a:p>
          <a:p>
            <a:pPr lvl="0" algn="r" rtl="1"/>
            <a:r>
              <a:rPr lang="he-IL" dirty="0"/>
              <a:t>האימון בוצע על</a:t>
            </a:r>
            <a:r>
              <a:rPr lang="en-US" dirty="0"/>
              <a:t> GPU </a:t>
            </a:r>
            <a:r>
              <a:rPr lang="he-IL" dirty="0"/>
              <a:t>מסוג</a:t>
            </a:r>
            <a:r>
              <a:rPr lang="en-US" dirty="0"/>
              <a:t> NVIDIA L4 </a:t>
            </a:r>
            <a:r>
              <a:rPr lang="he-IL" dirty="0"/>
              <a:t>עם</a:t>
            </a:r>
            <a:r>
              <a:rPr lang="en-US" dirty="0"/>
              <a:t> Python </a:t>
            </a:r>
            <a:r>
              <a:rPr lang="he-IL" dirty="0"/>
              <a:t>ו־</a:t>
            </a:r>
            <a:r>
              <a:rPr lang="en-US" dirty="0"/>
              <a:t> </a:t>
            </a:r>
            <a:r>
              <a:rPr lang="en-US" dirty="0" err="1"/>
              <a:t>Keras</a:t>
            </a:r>
            <a:r>
              <a:rPr lang="en-US" dirty="0"/>
              <a:t> </a:t>
            </a:r>
            <a:r>
              <a:rPr lang="he-IL" dirty="0"/>
              <a:t>לאורך 50 </a:t>
            </a:r>
            <a:r>
              <a:rPr lang="he-IL" dirty="0" err="1"/>
              <a:t>אפוקים</a:t>
            </a:r>
            <a:r>
              <a:rPr lang="he-IL" dirty="0"/>
              <a:t>, עם גודל מקבץ</a:t>
            </a:r>
            <a:r>
              <a:rPr lang="en-US" dirty="0"/>
              <a:t> (batch size</a:t>
            </a:r>
            <a:r>
              <a:rPr lang="he-IL" dirty="0"/>
              <a:t> של 32</a:t>
            </a:r>
            <a:r>
              <a:rPr lang="en-US" dirty="0"/>
              <a:t>(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55060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en-US" b="1" dirty="0"/>
              <a:t>🧠 </a:t>
            </a:r>
            <a:r>
              <a:rPr lang="he-IL" b="1" dirty="0"/>
              <a:t>מבנה הרשת 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275736"/>
            <a:ext cx="8229600" cy="4525963"/>
          </a:xfrm>
        </p:spPr>
        <p:txBody>
          <a:bodyPr/>
          <a:lstStyle/>
          <a:p>
            <a:pPr algn="r" rtl="1"/>
            <a:r>
              <a:rPr lang="he-IL" dirty="0"/>
              <a:t>הרשת הייתה רשת</a:t>
            </a:r>
            <a:r>
              <a:rPr lang="en-US" dirty="0"/>
              <a:t> fully connected </a:t>
            </a:r>
            <a:r>
              <a:rPr lang="he-IL" dirty="0"/>
              <a:t>פשוטה</a:t>
            </a:r>
            <a:r>
              <a:rPr lang="en-US" dirty="0"/>
              <a:t>:</a:t>
            </a:r>
          </a:p>
          <a:p>
            <a:endParaRPr lang="he-IL" dirty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64" y="2203902"/>
            <a:ext cx="6111850" cy="428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7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46587" y="107490"/>
            <a:ext cx="8229600" cy="1143000"/>
          </a:xfrm>
        </p:spPr>
        <p:txBody>
          <a:bodyPr/>
          <a:lstStyle/>
          <a:p>
            <a:r>
              <a:rPr lang="he-IL" dirty="0"/>
              <a:t>פונקציות אקטיבציה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1985" y="1061320"/>
            <a:ext cx="8008374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he-I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Swish</a:t>
            </a:r>
            <a:r>
              <a:rPr lang="he-IL" altLang="he-IL" sz="2400" dirty="0">
                <a:ea typeface="Times New Roman" panose="02020603050405020304" pitchFamily="18" charset="0"/>
              </a:rPr>
              <a:t>: 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פונקציית הפעלה חדשנית שמשלבת בין</a:t>
            </a:r>
            <a:r>
              <a:rPr kumimoji="0" lang="en-US" altLang="he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sigmoid </a:t>
            </a:r>
            <a:r>
              <a:rPr lang="he-IL" altLang="he-IL" sz="2400" dirty="0">
                <a:ea typeface="Times New Roman" panose="02020603050405020304" pitchFamily="18" charset="0"/>
                <a:cs typeface="Arial" panose="020B0604020202020204" pitchFamily="34" charset="0"/>
              </a:rPr>
              <a:t> ל-</a:t>
            </a:r>
            <a:r>
              <a:rPr kumimoji="0" lang="en-US" altLang="he-I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ReLU</a:t>
            </a:r>
            <a:r>
              <a:rPr lang="he-IL" altLang="he-IL" sz="2400" dirty="0"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מאפשרת זרימה חלקה יותר של </a:t>
            </a:r>
            <a:r>
              <a:rPr kumimoji="0" lang="he-IL" altLang="he-IL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גרדיאנטים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ויכולה לשפר למידה</a:t>
            </a:r>
            <a:r>
              <a:rPr kumimoji="0" lang="en-US" altLang="he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he-I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Sigmoid</a:t>
            </a:r>
            <a:r>
              <a:rPr lang="he-IL" altLang="he-IL" sz="2400" dirty="0"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פונקציית הפעלה שמחזירה ערך בין 0 ל־1 — משמשת רבות בהערכת הסתברויות. </a:t>
            </a:r>
            <a:br>
              <a:rPr kumimoji="0" lang="en-US" altLang="he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he-IL" altLang="he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פלט</a:t>
            </a:r>
            <a:r>
              <a:rPr kumimoji="0" lang="he-IL" altLang="he-IL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סופי: </a:t>
            </a:r>
            <a:r>
              <a:rPr lang="he-IL" altLang="he-IL" sz="2400" dirty="0">
                <a:ea typeface="Times New Roman" panose="02020603050405020304" pitchFamily="18" charset="0"/>
                <a:cs typeface="Arial" panose="020B0604020202020204" pitchFamily="34" charset="0"/>
              </a:rPr>
              <a:t>לכל תא וקטור בגודל 500, שמייצג את ההסברות לפיק פתוח (1) בכל לוקוס</a:t>
            </a:r>
            <a:br>
              <a:rPr kumimoji="0" lang="en-US" altLang="he-I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en-US" altLang="he-I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3" name="Picture 5" descr="https://upload.wikimedia.org/wikipedia/commons/thumb/1/12/Swish.svg/250px-Swish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17" y="4436805"/>
            <a:ext cx="3561018" cy="213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595" y="4308363"/>
            <a:ext cx="3649764" cy="242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49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48" y="1714801"/>
            <a:ext cx="3509349" cy="4602425"/>
          </a:xfrm>
          <a:prstGeom prst="rect">
            <a:avLst/>
          </a:prstGeom>
        </p:spPr>
      </p:pic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⚙️ </a:t>
            </a:r>
            <a:r>
              <a:rPr lang="he-IL" b="1" dirty="0"/>
              <a:t>אימון המודל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3097161" y="1639529"/>
            <a:ext cx="6046839" cy="4525963"/>
          </a:xfrm>
        </p:spPr>
        <p:txBody>
          <a:bodyPr>
            <a:normAutofit/>
          </a:bodyPr>
          <a:lstStyle/>
          <a:p>
            <a:pPr marL="114300" indent="0" algn="r" rtl="1">
              <a:buNone/>
            </a:pPr>
            <a:r>
              <a:rPr lang="en-US" sz="2000" b="1" dirty="0"/>
              <a:t>Batch size</a:t>
            </a:r>
            <a:r>
              <a:rPr lang="he-IL" sz="2000" dirty="0"/>
              <a:t>: </a:t>
            </a:r>
            <a:r>
              <a:rPr lang="en-US" sz="2000" dirty="0"/>
              <a:t> </a:t>
            </a:r>
            <a:r>
              <a:rPr lang="he-IL" sz="2000" dirty="0"/>
              <a:t>בכל צעד של אימון, המודל רואה רק 32 דוגמאות מתוך כלל </a:t>
            </a:r>
            <a:r>
              <a:rPr lang="he-IL" sz="2000" dirty="0" err="1"/>
              <a:t>הדאטה</a:t>
            </a:r>
            <a:r>
              <a:rPr lang="he-IL" sz="2000" dirty="0"/>
              <a:t> — וכך לומד בהדרגה. זה משפר את יציבות ויעילות האימון</a:t>
            </a:r>
            <a:r>
              <a:rPr lang="en-US" sz="2000" dirty="0"/>
              <a:t>.</a:t>
            </a:r>
          </a:p>
          <a:p>
            <a:pPr lvl="0" algn="r" rtl="1"/>
            <a:r>
              <a:rPr lang="he-IL" sz="2000" dirty="0"/>
              <a:t>השתמשתי במגוון</a:t>
            </a:r>
            <a:r>
              <a:rPr lang="en-US" sz="2000" dirty="0"/>
              <a:t> optimizers </a:t>
            </a:r>
            <a:r>
              <a:rPr lang="he-IL" sz="2000" dirty="0"/>
              <a:t>, </a:t>
            </a:r>
            <a:r>
              <a:rPr lang="en-US" sz="2000" dirty="0"/>
              <a:t> </a:t>
            </a:r>
            <a:r>
              <a:rPr lang="he-IL" sz="2000" dirty="0"/>
              <a:t>ובחרתי בסוף ב־</a:t>
            </a:r>
            <a:r>
              <a:rPr lang="en-US" sz="2000" dirty="0"/>
              <a:t> </a:t>
            </a:r>
            <a:r>
              <a:rPr lang="he-IL" sz="2000" dirty="0"/>
              <a:t>    </a:t>
            </a:r>
            <a:r>
              <a:rPr lang="en-US" sz="2000" b="1" dirty="0" err="1"/>
              <a:t>RMSProp</a:t>
            </a:r>
            <a:r>
              <a:rPr lang="he-IL" sz="2000" dirty="0"/>
              <a:t>, שהראה את הביצועים הטובים ביותר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 err="1"/>
              <a:t>RMSProp</a:t>
            </a:r>
            <a:r>
              <a:rPr lang="he-IL" sz="2000" dirty="0"/>
              <a:t> מתאים לדאטה רועש או עם שיפועים לא עקביים, ומבצע התאמה דינמית של קצב הלמידה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he-IL" sz="2000" dirty="0"/>
              <a:t>הוא שומר מידע על </a:t>
            </a:r>
            <a:r>
              <a:rPr lang="he-IL" sz="2000" dirty="0" err="1"/>
              <a:t>הגרדיאנטים</a:t>
            </a:r>
            <a:r>
              <a:rPr lang="he-IL" sz="2000" dirty="0"/>
              <a:t> בעבר בדומה ל־</a:t>
            </a:r>
            <a:r>
              <a:rPr lang="en-US" sz="2000" dirty="0"/>
              <a:t>momentum </a:t>
            </a:r>
            <a:r>
              <a:rPr lang="he-IL" sz="2000" dirty="0"/>
              <a:t> אך גם מחשב ממוצע מעריכי של השיפועים.</a:t>
            </a:r>
            <a:endParaRPr lang="en-US" sz="2000" dirty="0"/>
          </a:p>
          <a:p>
            <a:pPr algn="r" rtl="1"/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550230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1"/>
            <a:r>
              <a:rPr lang="en-US" b="1" dirty="0"/>
              <a:t>📉 </a:t>
            </a:r>
            <a:r>
              <a:rPr lang="he-IL" b="1" dirty="0"/>
              <a:t>פונקציות עלות</a:t>
            </a:r>
            <a:r>
              <a:rPr lang="en-US" b="1" dirty="0"/>
              <a:t> (Loss Functions)</a:t>
            </a:r>
            <a:endParaRPr lang="he-IL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1345379"/>
            <a:ext cx="861797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/>
            <a:r>
              <a:rPr lang="he-IL" sz="2400" dirty="0"/>
              <a:t>כדי להתמודד עם </a:t>
            </a:r>
            <a:r>
              <a:rPr lang="he-IL" sz="2400" dirty="0" err="1"/>
              <a:t>הדאטה</a:t>
            </a:r>
            <a:r>
              <a:rPr lang="he-IL" sz="2400" dirty="0"/>
              <a:t> הלא מאוזן </a:t>
            </a:r>
            <a:r>
              <a:rPr lang="he-IL" sz="2400" dirty="0" err="1"/>
              <a:t>והספראסי</a:t>
            </a:r>
            <a:r>
              <a:rPr lang="he-IL" sz="2400" dirty="0"/>
              <a:t>, השתמשתי בשילוב של שתי פונקציות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b="1" dirty="0" err="1"/>
              <a:t>SigmoidFocalCrossEntropy</a:t>
            </a:r>
            <a:r>
              <a:rPr lang="he-IL" sz="2400" b="1" dirty="0"/>
              <a:t>- </a:t>
            </a:r>
            <a:r>
              <a:rPr lang="en-US" sz="2400" dirty="0"/>
              <a:t> </a:t>
            </a:r>
            <a:r>
              <a:rPr lang="he-IL" sz="2400" dirty="0"/>
              <a:t>פונקציית עלות שמתמקדת בדוגמאות "קשות" ומתעלמת חלקית </a:t>
            </a:r>
            <a:r>
              <a:rPr lang="he-IL" sz="2400" dirty="0" err="1"/>
              <a:t>מה"קלות</a:t>
            </a:r>
            <a:r>
              <a:rPr lang="he-IL" sz="2400" dirty="0"/>
              <a:t>" (הרבות) — כמו אפסים במטריצה של</a:t>
            </a:r>
            <a:r>
              <a:rPr lang="en-US" sz="2400" dirty="0"/>
              <a:t> ATAC</a:t>
            </a:r>
            <a:r>
              <a:rPr lang="he-IL" sz="2400" dirty="0"/>
              <a:t>. זה משפר רגישות לאירועים נדירים</a:t>
            </a:r>
            <a:r>
              <a:rPr lang="en-US" sz="2400" dirty="0"/>
              <a:t>.</a:t>
            </a:r>
          </a:p>
          <a:p>
            <a:pPr lvl="0" algn="r" rtl="1"/>
            <a:r>
              <a:rPr lang="en-US" sz="2400" b="1" dirty="0"/>
              <a:t>Dice Loss</a:t>
            </a:r>
            <a:r>
              <a:rPr lang="he-IL" sz="2400" b="1" dirty="0"/>
              <a:t>-</a:t>
            </a:r>
            <a:r>
              <a:rPr lang="en-US" sz="2400" dirty="0"/>
              <a:t> </a:t>
            </a:r>
            <a:r>
              <a:rPr lang="he-IL" sz="2400" dirty="0"/>
              <a:t>דומה ל-</a:t>
            </a:r>
            <a:r>
              <a:rPr lang="en-US" sz="2400" dirty="0"/>
              <a:t>F1 score</a:t>
            </a:r>
            <a:r>
              <a:rPr lang="he-IL" sz="2400" dirty="0"/>
              <a:t>.</a:t>
            </a:r>
            <a:r>
              <a:rPr lang="en-US" sz="2400" dirty="0"/>
              <a:t> </a:t>
            </a:r>
            <a:r>
              <a:rPr lang="he-IL" sz="2400" dirty="0"/>
              <a:t>נועדה למקסם חפיפה בין אמת לחיזוי, ולכן מתאימה מאוד לדאטה דליל</a:t>
            </a:r>
            <a:r>
              <a:rPr lang="en-US" sz="2400" dirty="0"/>
              <a:t> (sparse) </a:t>
            </a:r>
            <a:r>
              <a:rPr lang="he-IL" sz="2400" dirty="0"/>
              <a:t>.</a:t>
            </a:r>
            <a:endParaRPr lang="en-US" sz="2400" dirty="0"/>
          </a:p>
        </p:txBody>
      </p:sp>
      <p:pic>
        <p:nvPicPr>
          <p:cNvPr id="3076" name="Picture 4" descr="https://miro.medium.com/v2/resize:fit:1047/1*QumkIISngfiVg3sm_gWtC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91" y="3962078"/>
            <a:ext cx="4642567" cy="247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384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993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📈 </a:t>
            </a:r>
            <a:r>
              <a:rPr lang="he-IL" b="1" dirty="0"/>
              <a:t>מדדים להערכת ביצועים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535858" y="904568"/>
            <a:ext cx="8229600" cy="4525963"/>
          </a:xfrm>
        </p:spPr>
        <p:txBody>
          <a:bodyPr>
            <a:normAutofit/>
          </a:bodyPr>
          <a:lstStyle/>
          <a:p>
            <a:pPr algn="r" rtl="1">
              <a:buFont typeface="Wingdings" panose="05000000000000000000" pitchFamily="2" charset="2"/>
              <a:buChar char="Ø"/>
            </a:pPr>
            <a:r>
              <a:rPr lang="he-IL" sz="2400" dirty="0"/>
              <a:t>המדד המרכזי בו השתמשתי להערכת הביצועים היה</a:t>
            </a:r>
            <a:r>
              <a:rPr lang="en-US" sz="2400" dirty="0"/>
              <a:t> PR AUC (Precision-Recall Area Under Curve)</a:t>
            </a:r>
            <a:r>
              <a:rPr lang="he-IL" sz="2400" dirty="0"/>
              <a:t> שמתאים במיוחד לבעיות שבהן הנתונים מאוזנים מאוד לרעת הקלאס החיובי</a:t>
            </a:r>
            <a:r>
              <a:rPr lang="en-US" sz="2400" dirty="0"/>
              <a:t>.</a:t>
            </a:r>
          </a:p>
          <a:p>
            <a:pPr algn="r" rtl="1"/>
            <a:r>
              <a:rPr lang="he-IL" sz="2400" b="1" dirty="0"/>
              <a:t>מה הוא מודד</a:t>
            </a:r>
            <a:r>
              <a:rPr lang="en-US" sz="2400" b="1" dirty="0"/>
              <a:t>:</a:t>
            </a:r>
            <a:br>
              <a:rPr lang="en-US" sz="2400" dirty="0"/>
            </a:br>
            <a:r>
              <a:rPr lang="en-US" sz="2400" dirty="0"/>
              <a:t>PR AUC </a:t>
            </a:r>
            <a:r>
              <a:rPr lang="he-IL" sz="2400" dirty="0"/>
              <a:t> הוא השטח שמתחת לעקומת</a:t>
            </a:r>
            <a:r>
              <a:rPr lang="en-US" sz="2400" dirty="0"/>
              <a:t> Precision </a:t>
            </a:r>
            <a:r>
              <a:rPr lang="he-IL" sz="2400" dirty="0"/>
              <a:t>מול </a:t>
            </a:r>
            <a:r>
              <a:rPr lang="en-US" sz="2400" dirty="0"/>
              <a:t> Recall</a:t>
            </a:r>
            <a:r>
              <a:rPr lang="he-IL" sz="2400" dirty="0"/>
              <a:t>,</a:t>
            </a:r>
            <a:r>
              <a:rPr lang="en-US" sz="2400" dirty="0"/>
              <a:t> </a:t>
            </a:r>
            <a:r>
              <a:rPr lang="he-IL" sz="2400" dirty="0"/>
              <a:t>והוא מדד שמתאים במיוחד לבעיות עם </a:t>
            </a:r>
            <a:r>
              <a:rPr lang="en-US" sz="2400" b="1" dirty="0"/>
              <a:t>data </a:t>
            </a:r>
            <a:r>
              <a:rPr lang="he-IL" sz="2400" b="1" dirty="0"/>
              <a:t> לא מאוזן</a:t>
            </a:r>
            <a:r>
              <a:rPr lang="en-US" sz="2400" dirty="0"/>
              <a:t>, </a:t>
            </a:r>
            <a:r>
              <a:rPr lang="he-IL" sz="2400" dirty="0"/>
              <a:t>כלומר כשיש הרבה יותר דוגמאות שליליות (0) מאשר חיוביות</a:t>
            </a:r>
            <a:r>
              <a:rPr lang="en-US" sz="2400" dirty="0"/>
              <a:t> (1).</a:t>
            </a:r>
          </a:p>
          <a:p>
            <a:pPr lvl="0" algn="r" rtl="1"/>
            <a:r>
              <a:rPr lang="en-US" sz="2400" b="1" dirty="0"/>
              <a:t>Precision</a:t>
            </a:r>
            <a:r>
              <a:rPr lang="en-US" sz="2400" dirty="0"/>
              <a:t> </a:t>
            </a:r>
            <a:r>
              <a:rPr lang="he-IL" sz="2400" dirty="0"/>
              <a:t>(דיוק חיובי): כמה מהתחזיות שהמודל אמר שהן חיוביות באמת היו נכונות</a:t>
            </a:r>
            <a:endParaRPr lang="en-US" sz="2400" dirty="0"/>
          </a:p>
          <a:p>
            <a:pPr lvl="0" algn="r" rtl="1"/>
            <a:r>
              <a:rPr lang="en-US" sz="2400" b="1" dirty="0"/>
              <a:t>Recall</a:t>
            </a:r>
            <a:r>
              <a:rPr lang="en-US" sz="2400" dirty="0"/>
              <a:t> </a:t>
            </a:r>
            <a:r>
              <a:rPr lang="he-IL" sz="2400" dirty="0"/>
              <a:t>(רגישות): כמה מתוך הדוגמאות החיוביות באמת זוהו נכון.</a:t>
            </a:r>
            <a:endParaRPr lang="en-US" sz="2400" dirty="0"/>
          </a:p>
          <a:p>
            <a:pPr algn="r">
              <a:buFont typeface="Wingdings" panose="05000000000000000000" pitchFamily="2" charset="2"/>
              <a:buChar char="Ø"/>
            </a:pP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2105119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📈 </a:t>
            </a:r>
            <a:r>
              <a:rPr lang="he-IL" b="1" dirty="0"/>
              <a:t>מדדים להערכת ביצועים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algn="r" rtl="1"/>
            <a:r>
              <a:rPr lang="he-IL" sz="2400" b="1" dirty="0"/>
              <a:t>אינטואיציה:</a:t>
            </a:r>
            <a:br>
              <a:rPr lang="he-IL" sz="2400" dirty="0"/>
            </a:br>
            <a:r>
              <a:rPr lang="he-IL" sz="2400" dirty="0"/>
              <a:t>מדד </a:t>
            </a:r>
            <a:r>
              <a:rPr lang="en-US" sz="2400" dirty="0"/>
              <a:t> PR AUC </a:t>
            </a:r>
            <a:r>
              <a:rPr lang="he-IL" sz="2400" dirty="0"/>
              <a:t>בודק עד כמה המודל מצליח לזהות נכון את הדוגמאות החיוביות, </a:t>
            </a:r>
            <a:r>
              <a:rPr lang="he-IL" sz="2400" i="1" dirty="0"/>
              <a:t>תוך שמירה על מספר שגיאות נמוך</a:t>
            </a:r>
            <a:r>
              <a:rPr lang="he-IL" sz="2400" dirty="0"/>
              <a:t>.</a:t>
            </a:r>
            <a:br>
              <a:rPr lang="he-IL" sz="2400" dirty="0"/>
            </a:br>
            <a:r>
              <a:rPr lang="he-IL" sz="2400" dirty="0"/>
              <a:t>אם המודל מזהה הרבה חיוביים אבל גם טועה הרבה — ה־</a:t>
            </a:r>
            <a:r>
              <a:rPr lang="en-US" sz="2400" dirty="0"/>
              <a:t> Precision </a:t>
            </a:r>
            <a:r>
              <a:rPr lang="he-IL" sz="2400" dirty="0" err="1"/>
              <a:t>יירד</a:t>
            </a:r>
            <a:r>
              <a:rPr lang="he-IL" sz="2400" dirty="0"/>
              <a:t>.</a:t>
            </a:r>
            <a:br>
              <a:rPr lang="he-IL" sz="2400" dirty="0"/>
            </a:br>
            <a:r>
              <a:rPr lang="he-IL" sz="2400" dirty="0"/>
              <a:t>אם הוא שמרני ומזהה מעט חיוביים — ה־</a:t>
            </a:r>
            <a:r>
              <a:rPr lang="en-US" sz="2400" dirty="0"/>
              <a:t>Recall </a:t>
            </a:r>
            <a:r>
              <a:rPr lang="he-IL" sz="2400" dirty="0"/>
              <a:t> </a:t>
            </a:r>
            <a:r>
              <a:rPr lang="he-IL" sz="2400" dirty="0" err="1"/>
              <a:t>יירד</a:t>
            </a:r>
            <a:r>
              <a:rPr lang="he-IL" sz="2400" dirty="0"/>
              <a:t>.</a:t>
            </a:r>
            <a:br>
              <a:rPr lang="he-IL" sz="2400" dirty="0"/>
            </a:br>
            <a:r>
              <a:rPr lang="he-IL" sz="2400" dirty="0"/>
              <a:t>עקומת </a:t>
            </a:r>
            <a:r>
              <a:rPr lang="en-US" sz="2400" dirty="0"/>
              <a:t>PR </a:t>
            </a:r>
            <a:r>
              <a:rPr lang="he-IL" sz="2400" dirty="0"/>
              <a:t> מראה את ה־</a:t>
            </a:r>
            <a:r>
              <a:rPr lang="en-US" sz="2400" dirty="0"/>
              <a:t> tradeoff </a:t>
            </a:r>
            <a:r>
              <a:rPr lang="he-IL" sz="2400" dirty="0"/>
              <a:t>בין השניים כשמשנים את ה־</a:t>
            </a:r>
            <a:r>
              <a:rPr lang="en-US" sz="2400" dirty="0"/>
              <a:t>threshold</a:t>
            </a:r>
            <a:r>
              <a:rPr lang="he-IL" sz="2400" dirty="0"/>
              <a:t>.</a:t>
            </a:r>
            <a:endParaRPr lang="en-US" sz="2400" dirty="0"/>
          </a:p>
          <a:p>
            <a:pPr algn="r" rtl="1"/>
            <a:r>
              <a:rPr lang="he-IL" sz="2400" b="1" dirty="0"/>
              <a:t>מה הערך של </a:t>
            </a:r>
            <a:r>
              <a:rPr lang="en-US" sz="2400" b="1" dirty="0"/>
              <a:t> PR AUC </a:t>
            </a:r>
            <a:r>
              <a:rPr lang="he-IL" sz="2400" b="1" dirty="0"/>
              <a:t>כשאין למידה כלל?</a:t>
            </a:r>
          </a:p>
          <a:p>
            <a:pPr algn="r" rtl="1"/>
            <a:r>
              <a:rPr lang="he-IL" sz="2400" dirty="0"/>
              <a:t>אם המודל לא לומד כלום וסתם מנחש — הערך של</a:t>
            </a:r>
            <a:r>
              <a:rPr lang="en-US" sz="2400" dirty="0"/>
              <a:t>PR AUC </a:t>
            </a:r>
            <a:r>
              <a:rPr lang="he-IL" sz="2400" dirty="0"/>
              <a:t> יהיה בערך </a:t>
            </a:r>
            <a:r>
              <a:rPr lang="he-IL" sz="2400" b="1" dirty="0"/>
              <a:t>שווה לשיעור החיוביים בנתונים</a:t>
            </a:r>
            <a:r>
              <a:rPr lang="he-IL" sz="2400" dirty="0"/>
              <a:t>.</a:t>
            </a:r>
            <a:br>
              <a:rPr lang="he-IL" sz="2400" dirty="0"/>
            </a:br>
            <a:r>
              <a:rPr lang="he-IL" sz="2400" dirty="0"/>
              <a:t>לדוגמה: אם רק 10% מהדוגמאות הן חיוביות, אז </a:t>
            </a:r>
            <a:r>
              <a:rPr lang="en-US" sz="2400" dirty="0"/>
              <a:t>PR AUC </a:t>
            </a:r>
            <a:r>
              <a:rPr lang="he-IL" sz="2400" dirty="0"/>
              <a:t> אקראי ≈ 0.10.</a:t>
            </a:r>
          </a:p>
          <a:p>
            <a:pPr algn="r" rtl="1"/>
            <a:r>
              <a:rPr lang="he-IL" sz="2400" dirty="0"/>
              <a:t>בפרויקט הזה, שיעור ה־1 במטריצת ה־</a:t>
            </a:r>
            <a:r>
              <a:rPr lang="en-US" sz="2400" dirty="0" err="1"/>
              <a:t>scATAC</a:t>
            </a:r>
            <a:r>
              <a:rPr lang="en-US" sz="2400" dirty="0"/>
              <a:t> </a:t>
            </a:r>
            <a:r>
              <a:rPr lang="he-IL" sz="2400" dirty="0"/>
              <a:t> היה נמוך מאוד.</a:t>
            </a:r>
          </a:p>
          <a:p>
            <a:pPr algn="r" rtl="1"/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2849868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68710" y="78556"/>
            <a:ext cx="8229600" cy="75718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📈 </a:t>
            </a:r>
            <a:r>
              <a:rPr lang="he-IL" b="1" dirty="0"/>
              <a:t>ביצועים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14400" y="835742"/>
            <a:ext cx="8229600" cy="4525963"/>
          </a:xfrm>
        </p:spPr>
        <p:txBody>
          <a:bodyPr>
            <a:normAutofit/>
          </a:bodyPr>
          <a:lstStyle/>
          <a:p>
            <a:pPr algn="r" rtl="1"/>
            <a:r>
              <a:rPr lang="he-IL" sz="2400" dirty="0"/>
              <a:t>הגענו ל־</a:t>
            </a:r>
            <a:r>
              <a:rPr lang="en-US" sz="2400" b="1" dirty="0"/>
              <a:t>PR AUC </a:t>
            </a:r>
            <a:r>
              <a:rPr lang="he-IL" sz="2400" b="1" dirty="0"/>
              <a:t> של כ־0.18</a:t>
            </a:r>
            <a:r>
              <a:rPr lang="en-US" sz="2400" dirty="0"/>
              <a:t>, </a:t>
            </a:r>
            <a:r>
              <a:rPr lang="he-IL" sz="2400" dirty="0"/>
              <a:t>וזה נחשב נמוך יחסית — אך עדיין גבוה משמעותית מאחוז החיוביים (כלומר, לא אקראי)</a:t>
            </a:r>
          </a:p>
          <a:p>
            <a:pPr marL="114300" indent="0" algn="r" rtl="1">
              <a:buNone/>
            </a:pPr>
            <a:r>
              <a:rPr lang="he-IL" sz="2400" b="1" dirty="0"/>
              <a:t>לכן ערך של ~0.18 מראה שהמודל כן למד משהו — גם אם לא ביצועים מרשימים במיוחד.</a:t>
            </a:r>
          </a:p>
          <a:p>
            <a:pPr algn="r" rtl="1"/>
            <a:endParaRPr lang="he-IL" sz="2400" dirty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97" y="2174415"/>
            <a:ext cx="5745190" cy="4547929"/>
          </a:xfrm>
          <a:prstGeom prst="rect">
            <a:avLst/>
          </a:prstGeom>
        </p:spPr>
      </p:pic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8FAC8B57-0C9E-EA3E-557C-2DEA5B11B345}"/>
              </a:ext>
            </a:extLst>
          </p:cNvPr>
          <p:cNvCxnSpPr/>
          <p:nvPr/>
        </p:nvCxnSpPr>
        <p:spPr>
          <a:xfrm>
            <a:off x="987552" y="6117336"/>
            <a:ext cx="4736592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B83E10CD-6D5E-6996-AB7E-47D11BFB0EF5}"/>
              </a:ext>
            </a:extLst>
          </p:cNvPr>
          <p:cNvCxnSpPr>
            <a:cxnSpLocks/>
          </p:cNvCxnSpPr>
          <p:nvPr/>
        </p:nvCxnSpPr>
        <p:spPr>
          <a:xfrm>
            <a:off x="3169920" y="2840736"/>
            <a:ext cx="39624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F185774D-EE52-3161-FC71-1C07246C0FE5}"/>
              </a:ext>
            </a:extLst>
          </p:cNvPr>
          <p:cNvSpPr txBox="1"/>
          <p:nvPr/>
        </p:nvSpPr>
        <p:spPr>
          <a:xfrm>
            <a:off x="3640678" y="2686847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guess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26490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📈 </a:t>
            </a:r>
            <a:r>
              <a:rPr lang="he-IL" b="1" dirty="0"/>
              <a:t>ביצועים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114300" indent="0" algn="r" rtl="1">
              <a:buNone/>
            </a:pPr>
            <a:r>
              <a:rPr lang="he-IL" dirty="0"/>
              <a:t>ישנם כמה גורמים אפשריים לכך שהתוצאה לא הייתה גבוהה יותר</a:t>
            </a:r>
            <a:r>
              <a:rPr lang="en-US" dirty="0"/>
              <a:t>:</a:t>
            </a:r>
            <a:endParaRPr lang="he-IL" b="1" dirty="0"/>
          </a:p>
          <a:p>
            <a:pPr lvl="0" algn="r" rtl="1"/>
            <a:r>
              <a:rPr lang="he-IL" b="1" dirty="0"/>
              <a:t>דלילות קיצונית של מטריצת ה־</a:t>
            </a:r>
            <a:r>
              <a:rPr lang="en-US" b="1" dirty="0" err="1"/>
              <a:t>scATAC</a:t>
            </a:r>
            <a:r>
              <a:rPr lang="he-IL" dirty="0"/>
              <a:t>: רוב הערכים הם 0, ולכן קל למודל "לשחק על בטוח" ולנבא רק אפסים. גם שיטות מתקדמות נאבקות במקרים כאלו, במיוחד כשאין ייצוג מספיק לחיוביים</a:t>
            </a:r>
            <a:r>
              <a:rPr lang="en-US" dirty="0"/>
              <a:t>.</a:t>
            </a:r>
          </a:p>
          <a:p>
            <a:pPr lvl="0" algn="r" rtl="1"/>
            <a:r>
              <a:rPr lang="he-IL" b="1" dirty="0"/>
              <a:t>כמות תאי אימון מוגבלת</a:t>
            </a:r>
            <a:r>
              <a:rPr lang="en-US" dirty="0"/>
              <a:t>: </a:t>
            </a:r>
            <a:r>
              <a:rPr lang="he-IL" dirty="0"/>
              <a:t>השתמשנו בכ־9,000 תאים לאימון בפועל. במונחים של למידת מכונה עמוקה, זו כמות קטנה יחסית, במיוחד כשמדובר ב־</a:t>
            </a:r>
            <a:r>
              <a:rPr lang="en-US" dirty="0"/>
              <a:t> output </a:t>
            </a:r>
            <a:r>
              <a:rPr lang="he-IL" dirty="0"/>
              <a:t>של 500 יחידות</a:t>
            </a:r>
            <a:r>
              <a:rPr lang="en-US" dirty="0"/>
              <a:t>.</a:t>
            </a:r>
          </a:p>
          <a:p>
            <a:pPr lvl="0" algn="r" rtl="1"/>
            <a:r>
              <a:rPr lang="he-IL" b="1" dirty="0"/>
              <a:t>היעדר מידע רגולטורי חיצוני</a:t>
            </a:r>
            <a:r>
              <a:rPr lang="en-US" dirty="0"/>
              <a:t>: </a:t>
            </a:r>
            <a:r>
              <a:rPr lang="he-IL" dirty="0"/>
              <a:t>המודל ניזון רק מה-</a:t>
            </a:r>
            <a:r>
              <a:rPr lang="en-US" dirty="0" err="1"/>
              <a:t>scRNA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ולא ידע, למשל, מה</a:t>
            </a:r>
            <a:r>
              <a:rPr lang="en-US" dirty="0"/>
              <a:t> proximity </a:t>
            </a:r>
            <a:r>
              <a:rPr lang="he-IL" dirty="0"/>
              <a:t>של גנים ללוקוסים, או אילו לוקוסים הם</a:t>
            </a:r>
            <a:r>
              <a:rPr lang="en-US" dirty="0"/>
              <a:t> enhancers </a:t>
            </a:r>
            <a:r>
              <a:rPr lang="he-IL" dirty="0"/>
              <a:t> ידועים — דבר שהיה עשוי לעזור במידול קשרים ביולוגיים </a:t>
            </a:r>
            <a:r>
              <a:rPr lang="he-IL" dirty="0" err="1"/>
              <a:t>אמיתיים</a:t>
            </a:r>
            <a:r>
              <a:rPr lang="en-US" dirty="0"/>
              <a:t>.</a:t>
            </a:r>
          </a:p>
          <a:p>
            <a:pPr algn="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68801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📈 </a:t>
            </a:r>
            <a:r>
              <a:rPr lang="he-IL" b="1" dirty="0"/>
              <a:t>ביצועים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lvl="0" algn="r" rtl="1"/>
            <a:r>
              <a:rPr lang="he-IL" b="1" dirty="0"/>
              <a:t>זמן ריצה מוגבל</a:t>
            </a:r>
            <a:r>
              <a:rPr lang="en-US" dirty="0"/>
              <a:t>: </a:t>
            </a:r>
            <a:r>
              <a:rPr lang="he-IL" dirty="0"/>
              <a:t>האימון בוצע לאורך 50 </a:t>
            </a:r>
            <a:r>
              <a:rPr lang="he-IL" dirty="0" err="1"/>
              <a:t>אפוקים</a:t>
            </a:r>
            <a:r>
              <a:rPr lang="he-IL" dirty="0"/>
              <a:t> בלבד, חלקית כדי לשמור על זמן ריצה סביר. ייתכן שמודל עמוק יותר, או יותר </a:t>
            </a:r>
            <a:r>
              <a:rPr lang="he-IL" dirty="0" err="1"/>
              <a:t>אפוקים</a:t>
            </a:r>
            <a:r>
              <a:rPr lang="he-IL" dirty="0"/>
              <a:t>, היו משפרים את הביצועים</a:t>
            </a:r>
            <a:r>
              <a:rPr lang="en-US" dirty="0"/>
              <a:t>.</a:t>
            </a:r>
          </a:p>
          <a:p>
            <a:pPr lvl="0" algn="r" rtl="1"/>
            <a:r>
              <a:rPr lang="he-IL" b="1" dirty="0"/>
              <a:t>עיצוב פשוט יחסית של המודל</a:t>
            </a:r>
            <a:r>
              <a:rPr lang="en-US" dirty="0"/>
              <a:t>: </a:t>
            </a:r>
            <a:r>
              <a:rPr lang="he-IL" dirty="0"/>
              <a:t>הרשת הייתה מבוססת על שכבות</a:t>
            </a:r>
            <a:r>
              <a:rPr lang="en-US" dirty="0"/>
              <a:t> Fully Connected </a:t>
            </a:r>
            <a:r>
              <a:rPr lang="he-IL" dirty="0"/>
              <a:t>בלבד, בלי שכבות</a:t>
            </a:r>
            <a:r>
              <a:rPr lang="en-US" dirty="0"/>
              <a:t> dropout, normalization </a:t>
            </a:r>
            <a:r>
              <a:rPr lang="he-IL" dirty="0"/>
              <a:t>פנימי, או מנגנוני</a:t>
            </a:r>
            <a:r>
              <a:rPr lang="en-US" dirty="0"/>
              <a:t> regularization </a:t>
            </a:r>
            <a:r>
              <a:rPr lang="he-IL" dirty="0"/>
              <a:t>אחרים</a:t>
            </a:r>
            <a:r>
              <a:rPr lang="en-US" dirty="0"/>
              <a:t>.</a:t>
            </a:r>
          </a:p>
          <a:p>
            <a:pPr lvl="0" algn="r" rtl="1"/>
            <a:r>
              <a:rPr lang="he-IL" b="1" dirty="0"/>
              <a:t>אי התאמה מושלמת בין</a:t>
            </a:r>
            <a:r>
              <a:rPr lang="en-US" b="1" dirty="0"/>
              <a:t> RNA </a:t>
            </a:r>
            <a:r>
              <a:rPr lang="he-IL" b="1" dirty="0"/>
              <a:t>ל־</a:t>
            </a:r>
            <a:r>
              <a:rPr lang="en-US" b="1" dirty="0"/>
              <a:t>ATAC</a:t>
            </a:r>
            <a:r>
              <a:rPr lang="he-IL" dirty="0"/>
              <a:t>: גם מבחינה ביולוגית, לא כל ביטוי גן משתקף ישירות בנגישות כרומטין באותו תא, כך שיש מגבלה מובנית בכמה טוב אפשר לחזות</a:t>
            </a:r>
            <a:r>
              <a:rPr lang="en-US" dirty="0"/>
              <a:t> ATAC </a:t>
            </a:r>
            <a:r>
              <a:rPr lang="he-IL" dirty="0"/>
              <a:t>על בסיס</a:t>
            </a:r>
            <a:r>
              <a:rPr lang="en-US" dirty="0"/>
              <a:t> RNA </a:t>
            </a:r>
            <a:r>
              <a:rPr lang="he-IL" dirty="0"/>
              <a:t>בלבד</a:t>
            </a:r>
            <a:r>
              <a:rPr lang="en-US" dirty="0"/>
              <a:t>.</a:t>
            </a:r>
            <a:endParaRPr lang="he-IL" dirty="0"/>
          </a:p>
          <a:p>
            <a:pPr algn="r" rtl="1"/>
            <a:r>
              <a:rPr lang="he-IL" sz="4100" b="1" dirty="0"/>
              <a:t>למרות האתגרים, העובדה שהמודל הצליח לזהות תבניות מובהקות ולשחזר חלק מהנגישות— גם אם חלק קטן — מצביעה על כך שהקשר קיים וניתן ללמידה, גם אם לא במלואו</a:t>
            </a:r>
            <a:r>
              <a:rPr lang="en-US" sz="4100" b="1" dirty="0"/>
              <a:t>.</a:t>
            </a:r>
          </a:p>
          <a:p>
            <a:pPr lvl="0" algn="r" rtl="1"/>
            <a:endParaRPr lang="en-US" dirty="0"/>
          </a:p>
          <a:p>
            <a:pPr algn="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62035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1"/>
            <a:r>
              <a:rPr lang="he-IL" b="1" dirty="0"/>
              <a:t>בדיקה סטטיסטית </a:t>
            </a:r>
            <a:r>
              <a:rPr lang="en-US" b="1" dirty="0"/>
              <a:t> (Fisher's Exact Test)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 algn="r" rtl="1">
              <a:buNone/>
            </a:pPr>
            <a:r>
              <a:rPr lang="he-IL" sz="2000" dirty="0"/>
              <a:t>כדי לאמת את תוצאות המודל השתמשתי בשיטה סטטיסטית נוספת:</a:t>
            </a:r>
          </a:p>
          <a:p>
            <a:pPr algn="r" rtl="1"/>
            <a:r>
              <a:rPr lang="he-IL" sz="2000" dirty="0"/>
              <a:t>בחרתי</a:t>
            </a:r>
            <a:r>
              <a:rPr lang="en-US" sz="2000" dirty="0"/>
              <a:t> threshold </a:t>
            </a:r>
            <a:r>
              <a:rPr lang="he-IL" sz="2000" dirty="0"/>
              <a:t>על התחזיות והפכתי אותן לבינאריות. לאחר מכן</a:t>
            </a:r>
            <a:r>
              <a:rPr lang="en-US" sz="2000" dirty="0"/>
              <a:t>:</a:t>
            </a:r>
          </a:p>
          <a:p>
            <a:pPr lvl="0" algn="r" rtl="1"/>
            <a:r>
              <a:rPr lang="he-IL" sz="2000" dirty="0"/>
              <a:t>ספרתי כמה לוקוסים סומנו כ"נגישים" גם בתחזית וגם באמת (חפיפה)</a:t>
            </a:r>
            <a:r>
              <a:rPr lang="en-US" sz="2000" dirty="0"/>
              <a:t>.</a:t>
            </a:r>
          </a:p>
          <a:p>
            <a:pPr lvl="0" algn="r" rtl="1"/>
            <a:r>
              <a:rPr lang="he-IL" sz="2000" dirty="0"/>
              <a:t>יצרתי טבלת שכיחות והשוויתי באמצעות </a:t>
            </a:r>
            <a:r>
              <a:rPr lang="en-US" sz="2000" b="1" dirty="0"/>
              <a:t>Fisher’s Exact Test</a:t>
            </a:r>
            <a:r>
              <a:rPr lang="he-IL" sz="2000" dirty="0"/>
              <a:t>:</a:t>
            </a:r>
          </a:p>
          <a:p>
            <a:pPr marL="114300" lvl="0" indent="0" algn="r" rtl="1">
              <a:buNone/>
            </a:pPr>
            <a:endParaRPr lang="en-US" sz="2000" dirty="0"/>
          </a:p>
          <a:p>
            <a:pPr lvl="0" algn="r" rtl="1"/>
            <a:endParaRPr lang="he-IL" sz="2000" dirty="0"/>
          </a:p>
          <a:p>
            <a:pPr lvl="0" algn="r" rtl="1"/>
            <a:endParaRPr lang="he-IL" sz="2000" dirty="0"/>
          </a:p>
          <a:p>
            <a:pPr lvl="0" algn="r" rtl="1"/>
            <a:endParaRPr lang="he-IL" sz="2000" dirty="0"/>
          </a:p>
          <a:p>
            <a:pPr lvl="0" algn="r" rtl="1"/>
            <a:r>
              <a:rPr lang="he-IL" sz="2000" dirty="0"/>
              <a:t>התוצאה</a:t>
            </a:r>
            <a:r>
              <a:rPr lang="en-US" sz="2000" dirty="0"/>
              <a:t>: </a:t>
            </a:r>
            <a:r>
              <a:rPr lang="en-US" sz="2000" b="1" dirty="0"/>
              <a:t>p-value ≈ 0</a:t>
            </a:r>
            <a:r>
              <a:rPr lang="en-US" sz="2000" dirty="0"/>
              <a:t> </a:t>
            </a:r>
            <a:r>
              <a:rPr lang="he-IL" sz="2000" dirty="0"/>
              <a:t>ו־</a:t>
            </a:r>
            <a:r>
              <a:rPr lang="en-US" sz="2000" b="1" dirty="0"/>
              <a:t>odds ratio ≈ 3</a:t>
            </a:r>
            <a:r>
              <a:rPr lang="en-US" sz="2000" dirty="0"/>
              <a:t>, </a:t>
            </a:r>
            <a:r>
              <a:rPr lang="he-IL" sz="2000" dirty="0"/>
              <a:t> כלומר המודל חזה נכונה אזורים נגישים באופן מובהק סטטיסטית</a:t>
            </a:r>
            <a:r>
              <a:rPr lang="en-US" sz="2000" dirty="0"/>
              <a:t>.</a:t>
            </a:r>
          </a:p>
          <a:p>
            <a:pPr lvl="0" algn="r" rtl="1"/>
            <a:r>
              <a:rPr lang="he-IL" sz="2000" dirty="0"/>
              <a:t>ולכן:</a:t>
            </a:r>
            <a:br>
              <a:rPr lang="en-US" sz="2000" dirty="0"/>
            </a:br>
            <a:r>
              <a:rPr lang="en-US" sz="2000" dirty="0"/>
              <a:t>·  </a:t>
            </a:r>
            <a:r>
              <a:rPr lang="he-IL" sz="2000" dirty="0"/>
              <a:t>אמנם יש הרבה </a:t>
            </a:r>
            <a:r>
              <a:rPr lang="en-US" sz="2000" dirty="0"/>
              <a:t> False Positives (260K)</a:t>
            </a:r>
            <a:r>
              <a:rPr lang="he-IL" sz="2000" dirty="0"/>
              <a:t>,אבל עדיין יש </a:t>
            </a:r>
            <a:r>
              <a:rPr lang="he-IL" sz="2000" b="1" dirty="0"/>
              <a:t>סיגנל מובהק מאוד</a:t>
            </a:r>
            <a:r>
              <a:rPr lang="he-IL" sz="2000" dirty="0"/>
              <a:t> </a:t>
            </a:r>
            <a:r>
              <a:rPr lang="he-IL" sz="2000" dirty="0" err="1"/>
              <a:t>בפרדיקציות</a:t>
            </a:r>
            <a:r>
              <a:rPr lang="en-US" sz="2000" dirty="0"/>
              <a:t>.</a:t>
            </a:r>
          </a:p>
          <a:p>
            <a:pPr lvl="0" algn="r" rtl="1"/>
            <a:r>
              <a:rPr lang="en-US" sz="2000" dirty="0"/>
              <a:t>·  </a:t>
            </a:r>
            <a:r>
              <a:rPr lang="he-IL" sz="2000" dirty="0"/>
              <a:t>זה הגיוני בנתונים </a:t>
            </a:r>
            <a:r>
              <a:rPr lang="he-IL" sz="2000" b="1" dirty="0"/>
              <a:t>דלילים </a:t>
            </a:r>
            <a:r>
              <a:rPr lang="he-IL" sz="2000" dirty="0"/>
              <a:t>כמו שלנו (הרבה 0־ים), ולכן חשוב מאוד לבחור </a:t>
            </a:r>
            <a:r>
              <a:rPr lang="en-US" sz="2000" b="1" dirty="0"/>
              <a:t>threshold </a:t>
            </a:r>
            <a:r>
              <a:rPr lang="he-IL" sz="2000" b="1" dirty="0"/>
              <a:t>נכון</a:t>
            </a:r>
            <a:r>
              <a:rPr lang="he-IL" sz="2000" dirty="0"/>
              <a:t> וגם למדוד לפי מדדים שמתאימים</a:t>
            </a:r>
            <a:r>
              <a:rPr lang="en-US" sz="2000" dirty="0"/>
              <a:t> </a:t>
            </a:r>
            <a:r>
              <a:rPr lang="he-IL" sz="2000" dirty="0"/>
              <a:t>כמו</a:t>
            </a:r>
            <a:r>
              <a:rPr lang="en-US" sz="2000" dirty="0"/>
              <a:t> PR AUC </a:t>
            </a:r>
          </a:p>
          <a:p>
            <a:pPr marL="114300" lvl="0" indent="0" algn="r" rtl="1">
              <a:buNone/>
            </a:pPr>
            <a:endParaRPr lang="en-US" sz="2000" dirty="0"/>
          </a:p>
        </p:txBody>
      </p:sp>
      <p:graphicFrame>
        <p:nvGraphicFramePr>
          <p:cNvPr id="9" name="טבלה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24048"/>
              </p:ext>
            </p:extLst>
          </p:nvPr>
        </p:nvGraphicFramePr>
        <p:xfrm>
          <a:off x="2438400" y="2822676"/>
          <a:ext cx="6096000" cy="11125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חזוי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חזוי</a:t>
                      </a:r>
                      <a:r>
                        <a:rPr lang="he-IL" baseline="0" dirty="0"/>
                        <a:t> 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56532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56335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אמת</a:t>
                      </a:r>
                      <a:r>
                        <a:rPr lang="he-IL" baseline="0" dirty="0"/>
                        <a:t> 1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794347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260786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אמת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41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/>
          <p:cNvSpPr/>
          <p:nvPr/>
        </p:nvSpPr>
        <p:spPr>
          <a:xfrm>
            <a:off x="383457" y="521110"/>
            <a:ext cx="835741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/>
            <a:r>
              <a:rPr lang="en-US" sz="2800" dirty="0"/>
              <a:t> </a:t>
            </a:r>
          </a:p>
          <a:p>
            <a:pPr algn="r" rtl="1"/>
            <a:r>
              <a:rPr lang="he-IL" sz="2800" b="1" dirty="0"/>
              <a:t>7. רעיונות להמשך </a:t>
            </a:r>
            <a:r>
              <a:rPr lang="en-US" sz="2800" b="1" dirty="0"/>
              <a:t>🛠</a:t>
            </a:r>
          </a:p>
          <a:p>
            <a:pPr marL="457200" lvl="0" indent="-457200" algn="r" rtl="1">
              <a:buFont typeface="Wingdings" panose="05000000000000000000" pitchFamily="2" charset="2"/>
              <a:buChar char="Ø"/>
            </a:pPr>
            <a:r>
              <a:rPr lang="he-IL" sz="2800" dirty="0"/>
              <a:t>להוסיף</a:t>
            </a:r>
            <a:r>
              <a:rPr lang="en-US" sz="2800" dirty="0"/>
              <a:t> Batch Normalization </a:t>
            </a:r>
            <a:r>
              <a:rPr lang="he-IL" sz="2800" dirty="0"/>
              <a:t>או</a:t>
            </a:r>
            <a:r>
              <a:rPr lang="en-US" sz="2800" dirty="0"/>
              <a:t> Dropout </a:t>
            </a:r>
            <a:r>
              <a:rPr lang="he-IL" sz="2800" dirty="0"/>
              <a:t>בשכבות הנסתרות</a:t>
            </a:r>
            <a:endParaRPr lang="en-US" sz="2800" dirty="0"/>
          </a:p>
          <a:p>
            <a:pPr marL="457200" lvl="0" indent="-457200" algn="r" rtl="1">
              <a:buFont typeface="Wingdings" panose="05000000000000000000" pitchFamily="2" charset="2"/>
              <a:buChar char="Ø"/>
            </a:pPr>
            <a:r>
              <a:rPr lang="he-IL" sz="2800" dirty="0"/>
              <a:t>לבחון</a:t>
            </a:r>
            <a:r>
              <a:rPr lang="en-US" sz="2800" dirty="0"/>
              <a:t> </a:t>
            </a:r>
            <a:r>
              <a:rPr lang="en-US" sz="2800" dirty="0" err="1"/>
              <a:t>autoencoder</a:t>
            </a:r>
            <a:r>
              <a:rPr lang="en-US" sz="2800" dirty="0"/>
              <a:t> </a:t>
            </a:r>
            <a:r>
              <a:rPr lang="he-IL" sz="2800" dirty="0"/>
              <a:t>או</a:t>
            </a:r>
            <a:r>
              <a:rPr lang="en-US" sz="2800" dirty="0"/>
              <a:t> transformer </a:t>
            </a:r>
            <a:r>
              <a:rPr lang="he-IL" sz="2800" dirty="0"/>
              <a:t>לגילוי ייצוגים חבויים</a:t>
            </a:r>
            <a:endParaRPr lang="en-US" sz="2800" dirty="0"/>
          </a:p>
          <a:p>
            <a:pPr marL="457200" lvl="0" indent="-457200" algn="r" rtl="1">
              <a:buFont typeface="Wingdings" panose="05000000000000000000" pitchFamily="2" charset="2"/>
              <a:buChar char="Ø"/>
            </a:pPr>
            <a:r>
              <a:rPr lang="he-IL" sz="2800" dirty="0"/>
              <a:t>לבצע</a:t>
            </a:r>
            <a:r>
              <a:rPr lang="en-US" sz="2800" dirty="0"/>
              <a:t> feature selection </a:t>
            </a:r>
            <a:r>
              <a:rPr lang="he-IL" sz="2800" dirty="0"/>
              <a:t>ע"י מודלים כמו</a:t>
            </a:r>
            <a:r>
              <a:rPr lang="en-US" sz="2800" dirty="0"/>
              <a:t> LASSO </a:t>
            </a:r>
            <a:r>
              <a:rPr lang="he-IL" sz="2800" dirty="0"/>
              <a:t>או</a:t>
            </a:r>
            <a:r>
              <a:rPr lang="en-US" sz="2800" dirty="0"/>
              <a:t> Random Forest</a:t>
            </a:r>
            <a:r>
              <a:rPr lang="he-IL" sz="2800" dirty="0"/>
              <a:t>, או ע"י מאפיינים ביולוגים.</a:t>
            </a:r>
            <a:endParaRPr lang="en-US" sz="2800" dirty="0"/>
          </a:p>
          <a:p>
            <a:pPr marL="457200" lvl="0" indent="-457200" algn="r" rtl="1">
              <a:buFont typeface="Wingdings" panose="05000000000000000000" pitchFamily="2" charset="2"/>
              <a:buChar char="Ø"/>
            </a:pPr>
            <a:r>
              <a:rPr lang="he-IL" sz="2800" dirty="0"/>
              <a:t>לנסות מיפוי למרחב </a:t>
            </a:r>
            <a:r>
              <a:rPr lang="he-IL" sz="2800" dirty="0" err="1"/>
              <a:t>גנומי</a:t>
            </a:r>
            <a:r>
              <a:rPr lang="he-IL" sz="2800" dirty="0"/>
              <a:t>/אנתולוגי משותף בין</a:t>
            </a:r>
            <a:r>
              <a:rPr lang="en-US" sz="2800" dirty="0"/>
              <a:t> RNA </a:t>
            </a:r>
            <a:r>
              <a:rPr lang="he-IL" sz="2800" dirty="0"/>
              <a:t>ו־</a:t>
            </a:r>
            <a:r>
              <a:rPr lang="en-US" sz="2800" dirty="0"/>
              <a:t>ATAC</a:t>
            </a:r>
            <a:endParaRPr lang="he-IL" sz="2800" dirty="0"/>
          </a:p>
          <a:p>
            <a:pPr marL="457200" lvl="0" indent="-457200" algn="r" rtl="1">
              <a:buFont typeface="Wingdings" panose="05000000000000000000" pitchFamily="2" charset="2"/>
              <a:buChar char="Ø"/>
            </a:pPr>
            <a:r>
              <a:rPr lang="he-IL" sz="2800" dirty="0"/>
              <a:t>הוספה לפיצ'רים </a:t>
            </a:r>
            <a:r>
              <a:rPr lang="en-US" sz="2800" dirty="0"/>
              <a:t>RNA</a:t>
            </a:r>
            <a:r>
              <a:rPr lang="he-IL" sz="2800" dirty="0"/>
              <a:t> מסוגים שיותר מעידים על פעילות רגולטורים כמו </a:t>
            </a:r>
            <a:r>
              <a:rPr lang="en-US" sz="2800" dirty="0"/>
              <a:t>RNA from enhancers (</a:t>
            </a:r>
            <a:r>
              <a:rPr lang="en-US" sz="2800" dirty="0" err="1"/>
              <a:t>eRNA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7209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1501</Words>
  <Application>Microsoft Office PowerPoint</Application>
  <PresentationFormat>‫הצגה על המסך (4:3)</PresentationFormat>
  <Paragraphs>102</Paragraphs>
  <Slides>20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חיזוי נגישות כרומטין (scATAC-seq) על בסיס ביטוי גנים (scRNA-seq) באמצעות למידה עמוקה </vt:lpstr>
      <vt:lpstr>מבוא</vt:lpstr>
      <vt:lpstr>מטרה</vt:lpstr>
      <vt:lpstr>למה Deep Learning?</vt:lpstr>
      <vt:lpstr>למה דווקא רשת  Fully Connected (Dense Neural Network)?</vt:lpstr>
      <vt:lpstr>⚠️ אתגרים עיקריים</vt:lpstr>
      <vt:lpstr>Data</vt:lpstr>
      <vt:lpstr>סינון ונורמליזציה</vt:lpstr>
      <vt:lpstr>נתונים נוספים</vt:lpstr>
      <vt:lpstr>🧠 מבנה הרשת </vt:lpstr>
      <vt:lpstr>פונקציות אקטיבציה</vt:lpstr>
      <vt:lpstr>⚙️ אימון המודל</vt:lpstr>
      <vt:lpstr>📉 פונקציות עלות (Loss Functions)</vt:lpstr>
      <vt:lpstr>📈 מדדים להערכת ביצועים</vt:lpstr>
      <vt:lpstr>📈 מדדים להערכת ביצועים</vt:lpstr>
      <vt:lpstr>📈 ביצועים</vt:lpstr>
      <vt:lpstr>📈 ביצועים</vt:lpstr>
      <vt:lpstr>📈 ביצועים</vt:lpstr>
      <vt:lpstr>בדיקה סטטיסטית  (Fisher's Exact Test)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חיזוי נגישות כרומטין (scATAC-seq) על בסיס ביטוי גנים (scRNA-seq) באמצעות למידה עמוקה </dc:title>
  <cp:lastModifiedBy>אבישי ויזל</cp:lastModifiedBy>
  <cp:revision>17</cp:revision>
  <dcterms:created xsi:type="dcterms:W3CDTF">2013-01-27T09:14:16Z</dcterms:created>
  <dcterms:modified xsi:type="dcterms:W3CDTF">2025-08-04T07:02:54Z</dcterms:modified>
</cp:coreProperties>
</file>